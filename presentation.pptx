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67" r:id="rId15"/>
    <p:sldId id="268" r:id="rId16"/>
  </p:sldIdLst>
  <p:sldSz cx="18288000" cy="10287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Haettenschweiler" panose="020B0706040902060204" pitchFamily="34" charset="0"/>
      <p:regular r:id="rId21"/>
    </p:embeddedFont>
    <p:embeddedFont>
      <p:font typeface="Inter" panose="020B0604020202020204" charset="0"/>
      <p:regular r:id="rId22"/>
    </p:embeddedFont>
    <p:embeddedFont>
      <p:font typeface="Intro" panose="02000000000000000000" charset="0"/>
      <p:regular r:id="rId23"/>
    </p:embeddedFont>
    <p:embeddedFont>
      <p:font typeface="Now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300" y="3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845905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1028700" y="2057400"/>
            <a:ext cx="3086100" cy="308610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310327" y="3007804"/>
            <a:ext cx="7889200" cy="3310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Медицина.</a:t>
            </a:r>
          </a:p>
          <a:p>
            <a:pPr>
              <a:lnSpc>
                <a:spcPts val="6686"/>
              </a:lnSpc>
            </a:pPr>
            <a:r>
              <a:rPr lang="en-US" sz="4776">
                <a:solidFill>
                  <a:srgbClr val="000000"/>
                </a:solidFill>
                <a:latin typeface="Intro"/>
              </a:rPr>
              <a:t>Анализ факторов развития болезни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845151" y="7161820"/>
            <a:ext cx="6414149" cy="1054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КОРОБОВЦЕВА ОЛЬГА</a:t>
            </a:r>
          </a:p>
          <a:p>
            <a:pPr algn="r">
              <a:lnSpc>
                <a:spcPts val="2800"/>
              </a:lnSpc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ЛОЗА АЛЕКСАНДР</a:t>
            </a:r>
          </a:p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ПАВЛОВА АННА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877649" y="2471574"/>
            <a:ext cx="4771194" cy="5714005"/>
          </a:xfrm>
          <a:custGeom>
            <a:avLst/>
            <a:gdLst/>
            <a:ahLst/>
            <a:cxnLst/>
            <a:rect l="l" t="t" r="r" b="b"/>
            <a:pathLst>
              <a:path w="4771194" h="5714005">
                <a:moveTo>
                  <a:pt x="0" y="0"/>
                </a:moveTo>
                <a:lnTo>
                  <a:pt x="4771195" y="0"/>
                </a:lnTo>
                <a:lnTo>
                  <a:pt x="4771195" y="5714005"/>
                </a:lnTo>
                <a:lnTo>
                  <a:pt x="0" y="57140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08575" y="2117065"/>
            <a:ext cx="7889200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Проблема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71750" y="5189967"/>
            <a:ext cx="7351501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5% ВСЕХ ГОСПИТАЛИЗИРОВАННЫХ ПАЦИЕНТОВ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9448800"/>
            <a:ext cx="16391044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WAIKAR SS*, LIU KD , CHERTOW GM, DIAGNOSIS, EPIDEMIOLOGY AND OUTCOMES OF ACUTE KIDNEY INJURY. CLIN J AM SOC NEPHROL 3: 844 -861, 2008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73958" y="3629610"/>
            <a:ext cx="5626298" cy="88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ОПП - ПРИЧИНА 4 МЛН. СМЕРТЕЙ</a:t>
            </a:r>
          </a:p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КАЖДЫЙ ГОД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62480" y="5189967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62480" y="5891642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02.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62480" y="6593317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03.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62480" y="7294992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04.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62480" y="7996666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05.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581275" y="5891642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14, 5% КРИТИЧЕСКИХ ПЕДИАТРИЧЕСКИХ БОЛЬНЫХ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71750" y="7294992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50% ПАЦИЕНТОВ,НАХОДИВШИХСЯ В ОИТ НА ДИАЛИЗЕ — ЛЕТАЛЬНЫЙ И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508575" y="6593317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 30% ПАЦИЕНТОВ ОТДЕЛЕНИЙ ИНТЕНСИВНОЙ ТЕРАПИИ (ОИТ)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71750" y="7958567"/>
            <a:ext cx="9369075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25% ПАЦИЕНТОВ, ВЫЖИВШИХ ПОСЛЕ ДИАЛИЗА, В ТЕЧЕНИЕ 3 -Х ЛЕТ РАЗВИВАЮТСЯ ТЕРМИНАЛЬНЫЕ СТАДИИ РЕНАЛЬНЫХ ЗАБОЛЕВАНИЙ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2119309" y="1921925"/>
            <a:ext cx="2091863" cy="209186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130064" y="2362039"/>
            <a:ext cx="5911227" cy="5290549"/>
          </a:xfrm>
          <a:custGeom>
            <a:avLst/>
            <a:gdLst/>
            <a:ahLst/>
            <a:cxnLst/>
            <a:rect l="l" t="t" r="r" b="b"/>
            <a:pathLst>
              <a:path w="5911227" h="5290549">
                <a:moveTo>
                  <a:pt x="0" y="0"/>
                </a:moveTo>
                <a:lnTo>
                  <a:pt x="5911227" y="0"/>
                </a:lnTo>
                <a:lnTo>
                  <a:pt x="5911227" y="5290549"/>
                </a:lnTo>
                <a:lnTo>
                  <a:pt x="0" y="52905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66496" y="2181064"/>
            <a:ext cx="3222776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Цель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66496" y="4289764"/>
            <a:ext cx="7351501" cy="1397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Now"/>
              </a:rPr>
              <a:t>ПРОВЕСТИ ИССЛЕДОВАНИЕ И РАЗРАБОТАТЬ ПРОЕКТ, ОРИЕНТИРОВАННЫЙ НА ИЗУЧЕНИЕ И АНАЛИЗ ДАННЫХ ПАЦИЕНТОВ С ОСТРЫМ ПОРАЖЕНИЕМ ПОЧЕК</a:t>
            </a:r>
          </a:p>
          <a:p>
            <a:pPr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000000"/>
              </a:solidFill>
              <a:latin typeface="No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114800" y="3222992"/>
            <a:ext cx="7599359" cy="5786500"/>
          </a:xfrm>
          <a:custGeom>
            <a:avLst/>
            <a:gdLst/>
            <a:ahLst/>
            <a:cxnLst/>
            <a:rect l="l" t="t" r="r" b="b"/>
            <a:pathLst>
              <a:path w="7599359" h="5786500">
                <a:moveTo>
                  <a:pt x="0" y="0"/>
                </a:moveTo>
                <a:lnTo>
                  <a:pt x="7599359" y="0"/>
                </a:lnTo>
                <a:lnTo>
                  <a:pt x="7599359" y="5786500"/>
                </a:lnTo>
                <a:lnTo>
                  <a:pt x="0" y="5786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39374" y="3791987"/>
            <a:ext cx="747425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ОБЩЕЕ ИССЛЕДОВАНИЕ ДАННЫХ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019930" y="3791987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01.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19930" y="4505378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02.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19930" y="5218769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03.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019930" y="5932161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04.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19930" y="6645552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05.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649058" y="4505378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ОБРАБОТКА ПРОПУСКОВ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39374" y="5932161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УДАЛЕНИЕ ДУБЛИКАТОВ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75144" y="5218769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ОБРАБОТКА АНОМАЛЬНЫХ ЗНАЧЕНИЙ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39374" y="6606816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ВВЕДЕНИЕ ДОПОЛНИТЕЛЬНЫХ СТОЛБЦОВ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28700" y="1457378"/>
            <a:ext cx="3086100" cy="3086100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249281" y="2174215"/>
            <a:ext cx="7410886" cy="1055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85"/>
              </a:lnSpc>
            </a:pPr>
            <a:r>
              <a:rPr lang="en-US" sz="6132">
                <a:solidFill>
                  <a:srgbClr val="000000"/>
                </a:solidFill>
                <a:latin typeface="Intro"/>
              </a:rPr>
              <a:t>Предобработка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035049" y="3790352"/>
          <a:ext cx="10662363" cy="4114800"/>
        </p:xfrm>
        <a:graphic>
          <a:graphicData uri="http://schemas.openxmlformats.org/drawingml/2006/table">
            <a:tbl>
              <a:tblPr/>
              <a:tblGrid>
                <a:gridCol w="3499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15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5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A08B7B"/>
                          </a:solidFill>
                          <a:latin typeface="Intro"/>
                        </a:rPr>
                        <a:t>Есть ОПП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A08B7B"/>
                          </a:solidFill>
                          <a:latin typeface="Intro"/>
                        </a:rPr>
                        <a:t>Нет ОПП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Сахарный диабет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36.3636%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27.5862%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Гипертония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88.8889%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94.8276%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ХБП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54.5455%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51.7241%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595452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САХАРНЫЙ ДИАБЕТ, ГИПЕРТОНИЯ, ХРОНИЧЕСКАЯ БОЛЕЗНЬ ПОЧЕК ДЛЯ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ГРУПП “ЕСТЬ ОПП/НЕТ ОПП”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630860" y="2999122"/>
            <a:ext cx="11617030" cy="6010370"/>
          </a:xfrm>
          <a:custGeom>
            <a:avLst/>
            <a:gdLst/>
            <a:ahLst/>
            <a:cxnLst/>
            <a:rect l="l" t="t" r="r" b="b"/>
            <a:pathLst>
              <a:path w="11617030" h="6010370">
                <a:moveTo>
                  <a:pt x="0" y="0"/>
                </a:moveTo>
                <a:lnTo>
                  <a:pt x="11617031" y="0"/>
                </a:lnTo>
                <a:lnTo>
                  <a:pt x="11617031" y="6010370"/>
                </a:lnTo>
                <a:lnTo>
                  <a:pt x="0" y="60103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915" r="-149"/>
            </a:stretch>
          </a:blipFill>
        </p:spPr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11161885" y="2907142"/>
          <a:ext cx="6097414" cy="5800726"/>
        </p:xfrm>
        <a:graphic>
          <a:graphicData uri="http://schemas.openxmlformats.org/drawingml/2006/table">
            <a:tbl>
              <a:tblPr/>
              <a:tblGrid>
                <a:gridCol w="304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66787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16 и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менее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Выраженный дефицит массы тела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6787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16—18,5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Недостаточная (дефицит) масса тела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18,5—25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Норма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5504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25—30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99"/>
                        </a:lnSpc>
                        <a:defRPr/>
                      </a:pPr>
                      <a:r>
                        <a:rPr lang="en-US" sz="1499">
                          <a:solidFill>
                            <a:srgbClr val="000000"/>
                          </a:solidFill>
                          <a:latin typeface="Inter"/>
                        </a:rPr>
                        <a:t>Избыточная масса тела (предожирение)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30—35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Ожирение 1 степени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35—40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Ожирение 2 степени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40 и более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Ожирение</a:t>
                      </a: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 3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степени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9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749438" y="1624940"/>
            <a:ext cx="11665034" cy="86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ИМТ. ПОСЧИТАТЬ КОЛИЧЕСТВО ПАЦИЕНТОВ, ИМЕЮЩИХ ПРОБЛЕМЫ С СЕРДЦЕМ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749438" y="3677235"/>
            <a:ext cx="10016853" cy="4350838"/>
          </a:xfrm>
          <a:custGeom>
            <a:avLst/>
            <a:gdLst/>
            <a:ahLst/>
            <a:cxnLst/>
            <a:rect l="l" t="t" r="r" b="b"/>
            <a:pathLst>
              <a:path w="10016853" h="4350838">
                <a:moveTo>
                  <a:pt x="0" y="0"/>
                </a:moveTo>
                <a:lnTo>
                  <a:pt x="10016853" y="0"/>
                </a:lnTo>
                <a:lnTo>
                  <a:pt x="10016853" y="4350838"/>
                </a:lnTo>
                <a:lnTo>
                  <a:pt x="0" y="43508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ИССЛЕДОВАТЬ ЗАВИСИМОСТЬ ДЛИТЕЛЬНОСТИ ОПЕРАЦИИ ОТ ФАКТА ПЕРЕНЕСЕННОГО В ПРОШЛОМ ИНФАРКТА МИОКАРДА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69045" y="8157004"/>
            <a:ext cx="8577638" cy="70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STATISTIC=0.05454838698202255, PVALUE=0.6075682576361974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545AFD-9B3C-40C9-989A-A744A56639ED}"/>
              </a:ext>
            </a:extLst>
          </p:cNvPr>
          <p:cNvSpPr txBox="1"/>
          <p:nvPr/>
        </p:nvSpPr>
        <p:spPr>
          <a:xfrm>
            <a:off x="143300" y="5705948"/>
            <a:ext cx="3086100" cy="939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Зависимости нет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6376050" y="2611838"/>
            <a:ext cx="7577859" cy="5862257"/>
          </a:xfrm>
          <a:custGeom>
            <a:avLst/>
            <a:gdLst/>
            <a:ahLst/>
            <a:cxnLst/>
            <a:rect l="l" t="t" r="r" b="b"/>
            <a:pathLst>
              <a:path w="7577859" h="5862257">
                <a:moveTo>
                  <a:pt x="0" y="0"/>
                </a:moveTo>
                <a:lnTo>
                  <a:pt x="7577859" y="0"/>
                </a:lnTo>
                <a:lnTo>
                  <a:pt x="7577859" y="5862256"/>
                </a:lnTo>
                <a:lnTo>
                  <a:pt x="0" y="58622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24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08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ВЕРНО ЛИ, ЧТО У ПАЦИЕНТОВ С ИМТ ВЫШЕ НОРМЫ БУДЕТ ПОВЫШЕННЫЙ УРОВЕНЬ ХОЛЕСТЕРИНА?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0" y="8426469"/>
            <a:ext cx="12100358" cy="688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STATISTIC=0.0</a:t>
            </a:r>
            <a:endParaRPr lang="ru-RU" sz="2000" spc="600" dirty="0">
              <a:solidFill>
                <a:srgbClr val="000000"/>
              </a:solidFill>
              <a:latin typeface="Inter"/>
            </a:endParaRP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PVALUE=1.0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6C2D5-22E9-41C1-9B9C-9CA90C92C703}"/>
              </a:ext>
            </a:extLst>
          </p:cNvPr>
          <p:cNvSpPr txBox="1"/>
          <p:nvPr/>
        </p:nvSpPr>
        <p:spPr>
          <a:xfrm>
            <a:off x="1247990" y="5635873"/>
            <a:ext cx="3400209" cy="19371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Нет данных о пациентах с повышенным холестерином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6920478" y="2482741"/>
            <a:ext cx="7669777" cy="5996525"/>
          </a:xfrm>
          <a:custGeom>
            <a:avLst/>
            <a:gdLst/>
            <a:ahLst/>
            <a:cxnLst/>
            <a:rect l="l" t="t" r="r" b="b"/>
            <a:pathLst>
              <a:path w="7669777" h="5996525">
                <a:moveTo>
                  <a:pt x="0" y="0"/>
                </a:moveTo>
                <a:lnTo>
                  <a:pt x="7669777" y="0"/>
                </a:lnTo>
                <a:lnTo>
                  <a:pt x="7669777" y="5996526"/>
                </a:lnTo>
                <a:lnTo>
                  <a:pt x="0" y="5996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ВЕРНО ЛИ, ЧТО ДАЖЕ БЕЗ ХРОНИЧЕСКИХ БОЛЕЗНЕЙ ПОЧЕК С ВОЗРАСТОМ ТОЛЩИНА ПАРЕНХИМЫ ПОЧЕК УМЕНЬШАЕТСЯ?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0" y="8157004"/>
            <a:ext cx="12100358" cy="1054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endParaRPr dirty="0"/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statistic=-0.2286580163189256, </a:t>
            </a:r>
            <a:r>
              <a:rPr lang="en-US" sz="2000" spc="600" dirty="0" err="1">
                <a:solidFill>
                  <a:srgbClr val="000000"/>
                </a:solidFill>
                <a:latin typeface="Inter"/>
              </a:rPr>
              <a:t>pvalue</a:t>
            </a:r>
            <a:r>
              <a:rPr lang="en-US" sz="2000" spc="600" dirty="0">
                <a:solidFill>
                  <a:srgbClr val="000000"/>
                </a:solidFill>
                <a:latin typeface="Inter"/>
              </a:rPr>
              <a:t>=0.15584536629264173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43B054-7091-4AD9-B94D-CD19E159CB92}"/>
              </a:ext>
            </a:extLst>
          </p:cNvPr>
          <p:cNvSpPr txBox="1"/>
          <p:nvPr/>
        </p:nvSpPr>
        <p:spPr>
          <a:xfrm>
            <a:off x="457200" y="5635873"/>
            <a:ext cx="5867400" cy="939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Неверно </a:t>
            </a:r>
          </a:p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зависимости не выявлено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5993745" y="1842857"/>
            <a:ext cx="6960260" cy="6960260"/>
          </a:xfrm>
          <a:custGeom>
            <a:avLst/>
            <a:gdLst/>
            <a:ahLst/>
            <a:cxnLst/>
            <a:rect l="l" t="t" r="r" b="b"/>
            <a:pathLst>
              <a:path w="6960260" h="6960260">
                <a:moveTo>
                  <a:pt x="0" y="0"/>
                </a:moveTo>
                <a:lnTo>
                  <a:pt x="6960260" y="0"/>
                </a:lnTo>
                <a:lnTo>
                  <a:pt x="6960260" y="6960260"/>
                </a:lnTo>
                <a:lnTo>
                  <a:pt x="0" y="69602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10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ПРОВЕРИТЬ АДЕКВАТНОСТЬ ПОСТАВЛЕННОГО ДИАГНОЗА ПО СТАДИИ ХРОНИЧЕСКОЙ БОЛЕЗНИ ПОЧЕК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730048" y="8765017"/>
            <a:ext cx="747425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СТАДИЯ РАЗВИТИЯ ХБП ОПРЕДЕЛЯЛАСЬ ПО СКФ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302708" y="3138450"/>
            <a:ext cx="10391601" cy="5871042"/>
          </a:xfrm>
          <a:custGeom>
            <a:avLst/>
            <a:gdLst/>
            <a:ahLst/>
            <a:cxnLst/>
            <a:rect l="l" t="t" r="r" b="b"/>
            <a:pathLst>
              <a:path w="10391601" h="5871042">
                <a:moveTo>
                  <a:pt x="0" y="0"/>
                </a:moveTo>
                <a:lnTo>
                  <a:pt x="10391601" y="0"/>
                </a:lnTo>
                <a:lnTo>
                  <a:pt x="10391601" y="5871042"/>
                </a:lnTo>
                <a:lnTo>
                  <a:pt x="0" y="58710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11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rgbClr val="000000"/>
                </a:solidFill>
                <a:latin typeface="Intro"/>
              </a:rPr>
              <a:t>3.7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86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ИССЛЕДОВАТЬ КОРРЕЛЯЦИЮ МЕЖДУ ПАРАМЕТРАМИ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FB28D01-4C41-4259-A1BB-4CB02BB34E66}"/>
              </a:ext>
            </a:extLst>
          </p:cNvPr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0B5C67-F53E-4BAE-B60F-103A04E5DCA0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7BBA7F61-3E0C-4607-A586-0AD24B5C15DA}"/>
              </a:ext>
            </a:extLst>
          </p:cNvPr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D8B564E-5C05-44F4-9F77-91C2556876B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B5F3168-C669-4F66-BC23-84C2C1C78B5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204B314-1DE4-457F-94F0-FE87FA51A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836189"/>
              </p:ext>
            </p:extLst>
          </p:nvPr>
        </p:nvGraphicFramePr>
        <p:xfrm>
          <a:off x="870587" y="2154218"/>
          <a:ext cx="6253773" cy="7200001"/>
        </p:xfrm>
        <a:graphic>
          <a:graphicData uri="http://schemas.openxmlformats.org/drawingml/2006/table">
            <a:tbl>
              <a:tblPr/>
              <a:tblGrid>
                <a:gridCol w="2467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6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0299">
                  <a:extLst>
                    <a:ext uri="{9D8B030D-6E8A-4147-A177-3AD203B41FA5}">
                      <a16:colId xmlns:a16="http://schemas.microsoft.com/office/drawing/2014/main" val="3537344682"/>
                    </a:ext>
                  </a:extLst>
                </a:gridCol>
              </a:tblGrid>
              <a:tr h="14259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37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699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statistic, </a:t>
                      </a:r>
                      <a:endParaRPr lang="ru-RU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p-value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зависимость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846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хбп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1.0756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0.584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нет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возраст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79.1297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пол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0.0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1.0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нет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257579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мочевина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30.9908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Лейкоциты крови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42.2646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3799203"/>
                  </a:ext>
                </a:extLst>
              </a:tr>
            </a:tbl>
          </a:graphicData>
        </a:graphic>
      </p:graphicFrame>
      <p:sp>
        <p:nvSpPr>
          <p:cNvPr id="8" name="TextBox 8">
            <a:extLst>
              <a:ext uri="{FF2B5EF4-FFF2-40B4-BE49-F238E27FC236}">
                <a16:creationId xmlns:a16="http://schemas.microsoft.com/office/drawing/2014/main" id="{970980CA-1338-4565-BE31-97DF444E5682}"/>
              </a:ext>
            </a:extLst>
          </p:cNvPr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12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6F82587-ADF1-4AD2-B4B5-19A67D41680E}"/>
              </a:ext>
            </a:extLst>
          </p:cNvPr>
          <p:cNvSpPr txBox="1"/>
          <p:nvPr/>
        </p:nvSpPr>
        <p:spPr>
          <a:xfrm>
            <a:off x="2438400" y="836327"/>
            <a:ext cx="12509285" cy="15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ru-RU" sz="9075" dirty="0">
                <a:solidFill>
                  <a:srgbClr val="000000"/>
                </a:solidFill>
                <a:latin typeface="Intro"/>
              </a:rPr>
              <a:t>Проверка гипотез </a:t>
            </a:r>
            <a:endParaRPr lang="en-US" sz="9075" dirty="0">
              <a:solidFill>
                <a:srgbClr val="000000"/>
              </a:solidFill>
              <a:latin typeface="Intro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D813776B-5B0A-49C8-AEF8-AE2978F9BF91}"/>
              </a:ext>
            </a:extLst>
          </p:cNvPr>
          <p:cNvSpPr txBox="1"/>
          <p:nvPr/>
        </p:nvSpPr>
        <p:spPr>
          <a:xfrm>
            <a:off x="1816154" y="2078909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rgbClr val="000000"/>
                </a:solidFill>
                <a:latin typeface="Intro"/>
              </a:rPr>
              <a:t>4.1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D3ECCB2-D9AB-4F43-B2D7-BB69DC305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126" y="2541801"/>
            <a:ext cx="3600000" cy="281791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9DE39D1-DE91-4AF7-BC6C-E7FAF52A6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556" y="2639510"/>
            <a:ext cx="3600000" cy="285460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AA104B-8EAB-46D1-B747-C390BDA5F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9416" y="2692908"/>
            <a:ext cx="3600000" cy="2666811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ED6B414-BBBE-4341-B006-0574B9D65F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1955" y="5653953"/>
            <a:ext cx="3600000" cy="2712054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AB0481F-2A73-4282-B377-579219749D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47685" y="5609085"/>
            <a:ext cx="3600000" cy="280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45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FB28D01-4C41-4259-A1BB-4CB02BB34E66}"/>
              </a:ext>
            </a:extLst>
          </p:cNvPr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0B5C67-F53E-4BAE-B60F-103A04E5DCA0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7BBA7F61-3E0C-4607-A586-0AD24B5C15DA}"/>
              </a:ext>
            </a:extLst>
          </p:cNvPr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D8B564E-5C05-44F4-9F77-91C2556876B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B5F3168-C669-4F66-BC23-84C2C1C78B5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204B314-1DE4-457F-94F0-FE87FA51A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964066"/>
              </p:ext>
            </p:extLst>
          </p:nvPr>
        </p:nvGraphicFramePr>
        <p:xfrm>
          <a:off x="167840" y="2193669"/>
          <a:ext cx="7083269" cy="7200001"/>
        </p:xfrm>
        <a:graphic>
          <a:graphicData uri="http://schemas.openxmlformats.org/drawingml/2006/table">
            <a:tbl>
              <a:tblPr/>
              <a:tblGrid>
                <a:gridCol w="33028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4384">
                  <a:extLst>
                    <a:ext uri="{9D8B030D-6E8A-4147-A177-3AD203B41FA5}">
                      <a16:colId xmlns:a16="http://schemas.microsoft.com/office/drawing/2014/main" val="3537344682"/>
                    </a:ext>
                  </a:extLst>
                </a:gridCol>
              </a:tblGrid>
              <a:tr h="14259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37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699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statistic, </a:t>
                      </a:r>
                      <a:endParaRPr lang="ru-RU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p-value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зависимость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846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тромбоциты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42.1561 0.0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общий_белок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154.0538 0.0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аик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5.5407 0.0186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257579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объем_</a:t>
                      </a:r>
                    </a:p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гемотрансфузии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15.0143 0.0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диурез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20.2617 0.0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3799203"/>
                  </a:ext>
                </a:extLst>
              </a:tr>
            </a:tbl>
          </a:graphicData>
        </a:graphic>
      </p:graphicFrame>
      <p:sp>
        <p:nvSpPr>
          <p:cNvPr id="8" name="TextBox 8">
            <a:extLst>
              <a:ext uri="{FF2B5EF4-FFF2-40B4-BE49-F238E27FC236}">
                <a16:creationId xmlns:a16="http://schemas.microsoft.com/office/drawing/2014/main" id="{970980CA-1338-4565-BE31-97DF444E5682}"/>
              </a:ext>
            </a:extLst>
          </p:cNvPr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3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6F82587-ADF1-4AD2-B4B5-19A67D41680E}"/>
              </a:ext>
            </a:extLst>
          </p:cNvPr>
          <p:cNvSpPr txBox="1"/>
          <p:nvPr/>
        </p:nvSpPr>
        <p:spPr>
          <a:xfrm>
            <a:off x="2438400" y="836327"/>
            <a:ext cx="12509285" cy="15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ru-RU" sz="9075" dirty="0">
                <a:solidFill>
                  <a:srgbClr val="000000"/>
                </a:solidFill>
                <a:latin typeface="Intro"/>
              </a:rPr>
              <a:t>Проверка гипотез </a:t>
            </a:r>
            <a:endParaRPr lang="en-US" sz="9075" dirty="0">
              <a:solidFill>
                <a:srgbClr val="000000"/>
              </a:solidFill>
              <a:latin typeface="Intro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D813776B-5B0A-49C8-AEF8-AE2978F9BF91}"/>
              </a:ext>
            </a:extLst>
          </p:cNvPr>
          <p:cNvSpPr txBox="1"/>
          <p:nvPr/>
        </p:nvSpPr>
        <p:spPr>
          <a:xfrm>
            <a:off x="1816154" y="2078909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rgbClr val="000000"/>
                </a:solidFill>
                <a:latin typeface="Intro"/>
              </a:rPr>
              <a:t>4.2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73599F46-B141-4EB8-97C1-5D4E1466A81A}"/>
              </a:ext>
            </a:extLst>
          </p:cNvPr>
          <p:cNvGrpSpPr/>
          <p:nvPr/>
        </p:nvGrpSpPr>
        <p:grpSpPr>
          <a:xfrm>
            <a:off x="8920649" y="5629605"/>
            <a:ext cx="7537851" cy="2781271"/>
            <a:chOff x="8933995" y="2134055"/>
            <a:chExt cx="7537851" cy="2781271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A1A14639-3054-49B1-8E03-8526451B8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995" y="2188566"/>
              <a:ext cx="3600000" cy="2672247"/>
            </a:xfrm>
            <a:prstGeom prst="rect">
              <a:avLst/>
            </a:prstGeom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19D6264A-4113-4432-B4CD-1302562C5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71846" y="2134055"/>
              <a:ext cx="3600000" cy="2781271"/>
            </a:xfrm>
            <a:prstGeom prst="rect">
              <a:avLst/>
            </a:prstGeom>
          </p:spPr>
        </p:pic>
      </p:grp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2915F188-BBC3-40F8-91E6-E2D7B7DE22BA}"/>
              </a:ext>
            </a:extLst>
          </p:cNvPr>
          <p:cNvGrpSpPr/>
          <p:nvPr/>
        </p:nvGrpSpPr>
        <p:grpSpPr>
          <a:xfrm>
            <a:off x="7335429" y="2490552"/>
            <a:ext cx="10952571" cy="2780153"/>
            <a:chOff x="6688514" y="5770225"/>
            <a:chExt cx="10952571" cy="2780153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13DD857C-A27C-4AD9-B93C-05C0AFC0C9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88514" y="5785873"/>
              <a:ext cx="3600000" cy="2668282"/>
            </a:xfrm>
            <a:prstGeom prst="rect">
              <a:avLst/>
            </a:prstGeom>
          </p:spPr>
        </p:pic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FC0469E2-8304-45C8-960A-B1A9D5074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97178" y="5785873"/>
              <a:ext cx="3600000" cy="2764505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24FC2885-B371-4DA1-AD11-8F1B5BC0A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041085" y="5770225"/>
              <a:ext cx="3600000" cy="27505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8995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951895" y="2987638"/>
            <a:ext cx="4695311" cy="4114800"/>
          </a:xfrm>
          <a:custGeom>
            <a:avLst/>
            <a:gdLst/>
            <a:ahLst/>
            <a:cxnLst/>
            <a:rect l="l" t="t" r="r" b="b"/>
            <a:pathLst>
              <a:path w="4695311" h="4114800">
                <a:moveTo>
                  <a:pt x="0" y="0"/>
                </a:moveTo>
                <a:lnTo>
                  <a:pt x="4695311" y="0"/>
                </a:lnTo>
                <a:lnTo>
                  <a:pt x="469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08575" y="2117065"/>
            <a:ext cx="7889200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Трудности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02473" y="3629610"/>
            <a:ext cx="3369269" cy="435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НЕХВАТКА ДАННЫХ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047583" y="5129384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6" y="0"/>
                </a:lnTo>
                <a:lnTo>
                  <a:pt x="3021296" y="65920"/>
                </a:lnTo>
                <a:lnTo>
                  <a:pt x="0" y="659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122270" y="5129384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6" y="0"/>
                </a:lnTo>
                <a:lnTo>
                  <a:pt x="3021296" y="65920"/>
                </a:lnTo>
                <a:lnTo>
                  <a:pt x="0" y="659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3319527" y="5096425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7" y="0"/>
                </a:lnTo>
                <a:lnTo>
                  <a:pt x="3021297" y="65919"/>
                </a:lnTo>
                <a:lnTo>
                  <a:pt x="0" y="659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95373" y="5973231"/>
            <a:ext cx="3538016" cy="3036261"/>
          </a:xfrm>
          <a:custGeom>
            <a:avLst/>
            <a:gdLst/>
            <a:ahLst/>
            <a:cxnLst/>
            <a:rect l="l" t="t" r="r" b="b"/>
            <a:pathLst>
              <a:path w="3538016" h="3036261">
                <a:moveTo>
                  <a:pt x="0" y="0"/>
                </a:moveTo>
                <a:lnTo>
                  <a:pt x="3538016" y="0"/>
                </a:lnTo>
                <a:lnTo>
                  <a:pt x="3538016" y="3036261"/>
                </a:lnTo>
                <a:lnTo>
                  <a:pt x="0" y="30362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3319527" y="5804166"/>
            <a:ext cx="3533393" cy="3374390"/>
          </a:xfrm>
          <a:custGeom>
            <a:avLst/>
            <a:gdLst/>
            <a:ahLst/>
            <a:cxnLst/>
            <a:rect l="l" t="t" r="r" b="b"/>
            <a:pathLst>
              <a:path w="3533393" h="3374390">
                <a:moveTo>
                  <a:pt x="0" y="0"/>
                </a:moveTo>
                <a:lnTo>
                  <a:pt x="3533393" y="0"/>
                </a:lnTo>
                <a:lnTo>
                  <a:pt x="3533393" y="3374390"/>
                </a:lnTo>
                <a:lnTo>
                  <a:pt x="0" y="33743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071345" y="6484198"/>
            <a:ext cx="3171869" cy="2110734"/>
          </a:xfrm>
          <a:custGeom>
            <a:avLst/>
            <a:gdLst/>
            <a:ahLst/>
            <a:cxnLst/>
            <a:rect l="l" t="t" r="r" b="b"/>
            <a:pathLst>
              <a:path w="3171869" h="2110734">
                <a:moveTo>
                  <a:pt x="0" y="0"/>
                </a:moveTo>
                <a:lnTo>
                  <a:pt x="3171869" y="0"/>
                </a:lnTo>
                <a:lnTo>
                  <a:pt x="3171869" y="2110735"/>
                </a:lnTo>
                <a:lnTo>
                  <a:pt x="0" y="21107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79152" y="2117065"/>
            <a:ext cx="15021781" cy="1556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670"/>
              </a:lnSpc>
            </a:pPr>
            <a:r>
              <a:rPr lang="en-US" sz="9050">
                <a:solidFill>
                  <a:srgbClr val="000000"/>
                </a:solidFill>
                <a:latin typeface="Intro"/>
              </a:rPr>
              <a:t>Дальнейшее развитие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282228" y="4551534"/>
            <a:ext cx="2552006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ЯНВАРЬ 2023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76536" y="4551534"/>
            <a:ext cx="2112764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МАРТ 2023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878420" y="4551534"/>
            <a:ext cx="1903512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МАЙ 2023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480576" y="5289971"/>
            <a:ext cx="415531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ПОЛУЧЕНИЕ БОЛЬШОГО ДАТАСЕТА И АНАЛИЗ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45210" y="5289971"/>
            <a:ext cx="522414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ЗАКЛЮЧЕНИЕ СОТРУДНИЧЕСТВА С БОЛЬНИЦЕЙ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74154" y="5197106"/>
            <a:ext cx="522414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ВНЕДРЕНИЕ И ЗАПУСК В ЭКСПЛУАТАЮ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468</Words>
  <Application>Microsoft Office PowerPoint</Application>
  <PresentationFormat>Произвольный</PresentationFormat>
  <Paragraphs>146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Calibri</vt:lpstr>
      <vt:lpstr>Arial</vt:lpstr>
      <vt:lpstr>Intro</vt:lpstr>
      <vt:lpstr>Now</vt:lpstr>
      <vt:lpstr>Inter</vt:lpstr>
      <vt:lpstr>Haettenschweiler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Minimalist Beige Brand Guidelines Presentation</dc:title>
  <cp:lastModifiedBy>Анна Павлова</cp:lastModifiedBy>
  <cp:revision>8</cp:revision>
  <dcterms:created xsi:type="dcterms:W3CDTF">2006-08-16T00:00:00Z</dcterms:created>
  <dcterms:modified xsi:type="dcterms:W3CDTF">2023-12-19T17:04:41Z</dcterms:modified>
  <dc:identifier>DAF3W6X38A8</dc:identifier>
</cp:coreProperties>
</file>