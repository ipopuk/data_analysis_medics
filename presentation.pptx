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Intro" charset="1" panose="02000000000000000000"/>
      <p:regular r:id="rId10"/>
    </p:embeddedFont>
    <p:embeddedFont>
      <p:font typeface="Now" charset="1" panose="00000500000000000000"/>
      <p:regular r:id="rId11"/>
    </p:embeddedFont>
    <p:embeddedFont>
      <p:font typeface="Now Bold" charset="1" panose="00000800000000000000"/>
      <p:regular r:id="rId12"/>
    </p:embeddedFont>
    <p:embeddedFont>
      <p:font typeface="Now Thin" charset="1" panose="00000300000000000000"/>
      <p:regular r:id="rId13"/>
    </p:embeddedFont>
    <p:embeddedFont>
      <p:font typeface="Now Light" charset="1" panose="00000400000000000000"/>
      <p:regular r:id="rId14"/>
    </p:embeddedFont>
    <p:embeddedFont>
      <p:font typeface="Now Medium" charset="1" panose="00000600000000000000"/>
      <p:regular r:id="rId15"/>
    </p:embeddedFont>
    <p:embeddedFont>
      <p:font typeface="Now Heavy" charset="1" panose="00000A00000000000000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  <p:embeddedFont>
      <p:font typeface="Inter Italics" charset="1" panose="020B0502030000000004"/>
      <p:regular r:id="rId19"/>
    </p:embeddedFont>
    <p:embeddedFont>
      <p:font typeface="Inter Bold Italics" charset="1" panose="020B0802030000000004"/>
      <p:regular r:id="rId20"/>
    </p:embeddedFont>
    <p:embeddedFont>
      <p:font typeface="Inter Thin" charset="1" panose="020B0A02050000000004"/>
      <p:regular r:id="rId21"/>
    </p:embeddedFont>
    <p:embeddedFont>
      <p:font typeface="Inter Thin Italics" charset="1" panose="020B0A02050000000004"/>
      <p:regular r:id="rId22"/>
    </p:embeddedFont>
    <p:embeddedFont>
      <p:font typeface="Inter Extra-Light" charset="1" panose="02000503000000020004"/>
      <p:regular r:id="rId23"/>
    </p:embeddedFont>
    <p:embeddedFont>
      <p:font typeface="Inter Light" charset="1" panose="02000503000000020004"/>
      <p:regular r:id="rId24"/>
    </p:embeddedFont>
    <p:embeddedFont>
      <p:font typeface="Inter Medium" charset="1" panose="02000503000000020004"/>
      <p:regular r:id="rId25"/>
    </p:embeddedFont>
    <p:embeddedFont>
      <p:font typeface="Inter Semi-Bold" charset="1" panose="02000503000000020004"/>
      <p:regular r:id="rId26"/>
    </p:embeddedFont>
    <p:embeddedFont>
      <p:font typeface="Inter Ultra-Bold" charset="1" panose="02000503000000020004"/>
      <p:regular r:id="rId27"/>
    </p:embeddedFont>
    <p:embeddedFont>
      <p:font typeface="Inter Heavy" charset="1" panose="0200050300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slides/slide1.xml" Type="http://schemas.openxmlformats.org/officeDocument/2006/relationships/slide"/><Relationship Id="rId3" Target="viewProps.xml" Type="http://schemas.openxmlformats.org/officeDocument/2006/relationships/viewProps"/><Relationship Id="rId30" Target="slides/slide2.xml" Type="http://schemas.openxmlformats.org/officeDocument/2006/relationships/slide"/><Relationship Id="rId31" Target="slides/slide3.xml" Type="http://schemas.openxmlformats.org/officeDocument/2006/relationships/slide"/><Relationship Id="rId32" Target="slides/slide4.xml" Type="http://schemas.openxmlformats.org/officeDocument/2006/relationships/slide"/><Relationship Id="rId33" Target="slides/slide5.xml" Type="http://schemas.openxmlformats.org/officeDocument/2006/relationships/slide"/><Relationship Id="rId34" Target="slides/slide6.xml" Type="http://schemas.openxmlformats.org/officeDocument/2006/relationships/slide"/><Relationship Id="rId35" Target="slides/slide7.xml" Type="http://schemas.openxmlformats.org/officeDocument/2006/relationships/slide"/><Relationship Id="rId36" Target="slides/slide8.xml" Type="http://schemas.openxmlformats.org/officeDocument/2006/relationships/slide"/><Relationship Id="rId37" Target="slides/slide9.xml" Type="http://schemas.openxmlformats.org/officeDocument/2006/relationships/slide"/><Relationship Id="rId38" Target="slides/slide10.xml" Type="http://schemas.openxmlformats.org/officeDocument/2006/relationships/slide"/><Relationship Id="rId39" Target="slides/slide11.xml" Type="http://schemas.openxmlformats.org/officeDocument/2006/relationships/slide"/><Relationship Id="rId4" Target="theme/theme1.xml" Type="http://schemas.openxmlformats.org/officeDocument/2006/relationships/theme"/><Relationship Id="rId40" Target="slides/slide12.xml" Type="http://schemas.openxmlformats.org/officeDocument/2006/relationships/slide"/><Relationship Id="rId41" Target="slides/slide13.xml" Type="http://schemas.openxmlformats.org/officeDocument/2006/relationships/slid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8459058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205740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10327" y="3007804"/>
            <a:ext cx="7889200" cy="331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Медицина.</a:t>
            </a:r>
          </a:p>
          <a:p>
            <a:pPr>
              <a:lnSpc>
                <a:spcPts val="6686"/>
              </a:lnSpc>
            </a:pPr>
            <a:r>
              <a:rPr lang="en-US" sz="4776">
                <a:solidFill>
                  <a:srgbClr val="000000"/>
                </a:solidFill>
                <a:latin typeface="Intro"/>
              </a:rPr>
              <a:t>Анализ факторов развития болезни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45151" y="7161820"/>
            <a:ext cx="6414149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КОРОБОВЦЕВА ОЛЬГА</a:t>
            </a:r>
          </a:p>
          <a:p>
            <a:pPr algn="r">
              <a:lnSpc>
                <a:spcPts val="2800"/>
              </a:lnSpc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ЛОЗА АЛЕКСАНДР</a:t>
            </a:r>
          </a:p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ПАВЛОВА АННА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877649" y="2471574"/>
            <a:ext cx="4771194" cy="5714005"/>
          </a:xfrm>
          <a:custGeom>
            <a:avLst/>
            <a:gdLst/>
            <a:ahLst/>
            <a:cxnLst/>
            <a:rect r="r" b="b" t="t" l="l"/>
            <a:pathLst>
              <a:path h="5714005" w="4771194">
                <a:moveTo>
                  <a:pt x="0" y="0"/>
                </a:moveTo>
                <a:lnTo>
                  <a:pt x="4771195" y="0"/>
                </a:lnTo>
                <a:lnTo>
                  <a:pt x="4771195" y="5714005"/>
                </a:lnTo>
                <a:lnTo>
                  <a:pt x="0" y="5714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8575" y="2117065"/>
            <a:ext cx="7889200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Проблема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5189967"/>
            <a:ext cx="73515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5% ВСЕХ ГОСПИТАЛИЗИРОВАННЫХ ПАЦИЕНТОВ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448800"/>
            <a:ext cx="1639104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WAIKAR SS*, LIU KD , CHERTOW GM, DIAGNOSIS, EPIDEMIOLOGY AND OUTCOMES OF ACUTE KIDNEY INJURY. CLIN J AM </a:t>
            </a:r>
            <a:r>
              <a:rPr lang="en-US" sz="2000">
                <a:solidFill>
                  <a:srgbClr val="000000"/>
                </a:solidFill>
                <a:latin typeface="Now"/>
              </a:rPr>
              <a:t>SOC NEPHROL 3: 844 -861, 2008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3958" y="3629610"/>
            <a:ext cx="5626298" cy="88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sz="2561">
                <a:solidFill>
                  <a:srgbClr val="000000"/>
                </a:solidFill>
                <a:latin typeface="Intro"/>
              </a:rPr>
              <a:t>ОПП - ПРИЧИНА 4 МЛН. СМЕРТЕЙ</a:t>
            </a:r>
          </a:p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sz="2561">
                <a:solidFill>
                  <a:srgbClr val="000000"/>
                </a:solidFill>
                <a:latin typeface="Intro"/>
              </a:rPr>
              <a:t>КАЖДЫЙ ГОД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2480" y="5189967"/>
            <a:ext cx="4314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01.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62480" y="5891642"/>
            <a:ext cx="4314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02.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2480" y="6593317"/>
            <a:ext cx="4314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03.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62480" y="7294992"/>
            <a:ext cx="4314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04.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62480" y="7996666"/>
            <a:ext cx="4314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05.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81275" y="5891642"/>
            <a:ext cx="93690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14, 5% КРИТИЧЕСКИХ ПЕДИАТРИЧЕСКИХ БОЛЬНЫХ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71750" y="7294992"/>
            <a:ext cx="93690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50% ПАЦИЕНТОВ,НАХОДИВШИХСЯ В ОИТ НА ДИАЛИЗЕ — ЛЕТАЛЬНЫЙ 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08575" y="6593317"/>
            <a:ext cx="93690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 </a:t>
            </a:r>
            <a:r>
              <a:rPr lang="en-US" sz="2000">
                <a:solidFill>
                  <a:srgbClr val="000000"/>
                </a:solidFill>
                <a:latin typeface="Now"/>
              </a:rPr>
              <a:t>30% ПАЦИЕНТОВ ОТДЕЛЕНИЙ ИНТЕНСИВНОЙ ТЕРАПИИ (ОИТ)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71750" y="7958567"/>
            <a:ext cx="936907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w"/>
              </a:rPr>
              <a:t>25% ПАЦИЕНТОВ, ВЫЖИВШИХ ПОСЛЕ ДИАЛИЗА, В ТЕЧЕНИЕ 3 -Х ЛЕТ РАЗВИВАЮТСЯ ТЕРМИНАЛЬНЫЕ СТАДИИ РЕНАЛЬНЫХ ЗАБОЛЕВАНИЙ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119309" y="1921925"/>
            <a:ext cx="2091863" cy="209186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130064" y="2362039"/>
            <a:ext cx="5911227" cy="5290549"/>
          </a:xfrm>
          <a:custGeom>
            <a:avLst/>
            <a:gdLst/>
            <a:ahLst/>
            <a:cxnLst/>
            <a:rect r="r" b="b" t="t" l="l"/>
            <a:pathLst>
              <a:path h="5290549" w="5911227">
                <a:moveTo>
                  <a:pt x="0" y="0"/>
                </a:moveTo>
                <a:lnTo>
                  <a:pt x="5911227" y="0"/>
                </a:lnTo>
                <a:lnTo>
                  <a:pt x="5911227" y="5290549"/>
                </a:lnTo>
                <a:lnTo>
                  <a:pt x="0" y="5290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6496" y="2181064"/>
            <a:ext cx="3222776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Цель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6496" y="4289764"/>
            <a:ext cx="7351501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Now"/>
              </a:rPr>
              <a:t>ПРОВЕСТИ ИССЛЕДОВАНИЕ И РАЗРАБОТАТЬ ПРОЕКТ, ОРИЕНТИРОВАННЫЙ НА ИЗУЧЕНИЕ И АНАЛИЗ ДАННЫХ ПАЦИЕНТОВ С ОСТРЫМ ПОРАЖЕНИЕМ ПОЧЕК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114800" y="3222992"/>
            <a:ext cx="7599359" cy="5786500"/>
          </a:xfrm>
          <a:custGeom>
            <a:avLst/>
            <a:gdLst/>
            <a:ahLst/>
            <a:cxnLst/>
            <a:rect r="r" b="b" t="t" l="l"/>
            <a:pathLst>
              <a:path h="5786500" w="7599359">
                <a:moveTo>
                  <a:pt x="0" y="0"/>
                </a:moveTo>
                <a:lnTo>
                  <a:pt x="7599359" y="0"/>
                </a:lnTo>
                <a:lnTo>
                  <a:pt x="7599359" y="5786500"/>
                </a:lnTo>
                <a:lnTo>
                  <a:pt x="0" y="578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9374" y="3791987"/>
            <a:ext cx="747425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ОБЩЕЕ ИССЛЕДОВАНИЕ ДАННЫХ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19930" y="3791987"/>
            <a:ext cx="43861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01.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9930" y="4505378"/>
            <a:ext cx="43861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02.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19930" y="5218769"/>
            <a:ext cx="43861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03.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9930" y="5932161"/>
            <a:ext cx="43861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04.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19930" y="6645552"/>
            <a:ext cx="43861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05.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9058" y="4505378"/>
            <a:ext cx="9525516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ОБРАБОТКА ПРОПУСКОВ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39374" y="5932161"/>
            <a:ext cx="9525516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УДАЛЕНИЕ ДУБЛИКАТОВ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75144" y="5218769"/>
            <a:ext cx="9525516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ОБРАБОТКА АНОМАЛЬНЫХ ЗНАЧЕНИЙ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39374" y="6606816"/>
            <a:ext cx="9525516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ВВЕДЕНИЕ ДОПОЛНИТЕЛЬНЫХ СТОЛБЦОВ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1457378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49281" y="2174215"/>
            <a:ext cx="7410886" cy="105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85"/>
              </a:lnSpc>
            </a:pPr>
            <a:r>
              <a:rPr lang="en-US" sz="6132">
                <a:solidFill>
                  <a:srgbClr val="000000"/>
                </a:solidFill>
                <a:latin typeface="Intro"/>
              </a:rPr>
              <a:t>Предобработка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035049" y="3790352"/>
          <a:ext cx="10662363" cy="4114800"/>
        </p:xfrm>
        <a:graphic>
          <a:graphicData uri="http://schemas.openxmlformats.org/drawingml/2006/table">
            <a:tbl>
              <a:tblPr/>
              <a:tblGrid>
                <a:gridCol w="3499249"/>
                <a:gridCol w="3581557"/>
                <a:gridCol w="3581557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A08B7B"/>
                          </a:solidFill>
                          <a:latin typeface="Intro"/>
                        </a:rPr>
                        <a:t>Есть ОПП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A08B7B"/>
                          </a:solidFill>
                          <a:latin typeface="Intro"/>
                        </a:rPr>
                        <a:t>Нет ОПП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A08B7B"/>
                          </a:solidFill>
                          <a:latin typeface="Intro"/>
                        </a:rPr>
                        <a:t>Сахарный диабет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A08B7B"/>
                          </a:solidFill>
                          <a:latin typeface="Inter"/>
                        </a:rPr>
                        <a:t>36.3636%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A08B7B"/>
                          </a:solidFill>
                          <a:latin typeface="Inter"/>
                        </a:rPr>
                        <a:t>27.5862%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A08B7B"/>
                          </a:solidFill>
                          <a:latin typeface="Intro"/>
                        </a:rPr>
                        <a:t>Гипертония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A08B7B"/>
                          </a:solidFill>
                          <a:latin typeface="Inter"/>
                        </a:rPr>
                        <a:t>88.8889%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A08B7B"/>
                          </a:solidFill>
                          <a:latin typeface="Inter"/>
                        </a:rPr>
                        <a:t>94.8276%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A08B7B"/>
                          </a:solidFill>
                          <a:latin typeface="Intro"/>
                        </a:rPr>
                        <a:t>ХБП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A08B7B"/>
                          </a:solidFill>
                          <a:latin typeface="Inter"/>
                        </a:rPr>
                        <a:t>54.5455%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A08B7B"/>
                          </a:solidFill>
                          <a:latin typeface="Inter"/>
                        </a:rPr>
                        <a:t>51.7241%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266" y="2117065"/>
            <a:ext cx="1595452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9438" y="1624940"/>
            <a:ext cx="1166503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САХАРНЫЙ ДИАБЕТ, ГИПЕРТОНИЯ, ХРОНИЧЕСКАЯ БОЛЕЗНЬ ПОЧЕК ДЛЯ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ГРУПП “ЕСТЬ ОПП/НЕТ ОПП”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630860" y="2999122"/>
            <a:ext cx="11617030" cy="6010370"/>
          </a:xfrm>
          <a:custGeom>
            <a:avLst/>
            <a:gdLst/>
            <a:ahLst/>
            <a:cxnLst/>
            <a:rect r="r" b="b" t="t" l="l"/>
            <a:pathLst>
              <a:path h="6010370" w="11617030">
                <a:moveTo>
                  <a:pt x="0" y="0"/>
                </a:moveTo>
                <a:lnTo>
                  <a:pt x="11617031" y="0"/>
                </a:lnTo>
                <a:lnTo>
                  <a:pt x="11617031" y="6010370"/>
                </a:lnTo>
                <a:lnTo>
                  <a:pt x="0" y="6010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15" r="-149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1161885" y="2907142"/>
          <a:ext cx="6097415" cy="5800725"/>
        </p:xfrm>
        <a:graphic>
          <a:graphicData uri="http://schemas.openxmlformats.org/drawingml/2006/table">
            <a:tbl>
              <a:tblPr/>
              <a:tblGrid>
                <a:gridCol w="3048707"/>
                <a:gridCol w="3048707"/>
              </a:tblGrid>
              <a:tr h="966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16 и менее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Выраженный дефицит массы тела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67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16—18,5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Недостаточная (дефицит) масса тела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18,5—25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Норма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5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25—30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Inter"/>
                        </a:rPr>
                        <a:t>Избыточная масса тела (предожирение)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30—35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Ожирение 1 степени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35—40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Ожирение 2 степени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40 и более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Inter"/>
                        </a:rPr>
                        <a:t>Ожирение 3 степени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90266" y="2117065"/>
            <a:ext cx="1840594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49438" y="1624940"/>
            <a:ext cx="1166503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ИМТ. ПОСЧИТАТЬ КОЛИЧЕСТВО ПАЦИЕНТОВ, ИМЕЮЩИХ ПРОБЛЕМЫ С СЕРДЦЕМ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49438" y="3677235"/>
            <a:ext cx="10016853" cy="4350838"/>
          </a:xfrm>
          <a:custGeom>
            <a:avLst/>
            <a:gdLst/>
            <a:ahLst/>
            <a:cxnLst/>
            <a:rect r="r" b="b" t="t" l="l"/>
            <a:pathLst>
              <a:path h="4350838" w="10016853">
                <a:moveTo>
                  <a:pt x="0" y="0"/>
                </a:moveTo>
                <a:lnTo>
                  <a:pt x="10016853" y="0"/>
                </a:lnTo>
                <a:lnTo>
                  <a:pt x="10016853" y="4350838"/>
                </a:lnTo>
                <a:lnTo>
                  <a:pt x="0" y="4350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266" y="2117065"/>
            <a:ext cx="1840594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9438" y="1624940"/>
            <a:ext cx="1166503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ИССЛЕДОВАТЬ ЗАВИСИМОСТЬ ДЛИТЕЛЬНОСТИ ОПЕРАЦИИ ОТ ФАКТА ПЕРЕНЕСЕННОГО В ПРОШЛОМ ИНФАРКТА МИОКАРДА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69045" y="8157004"/>
            <a:ext cx="857763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SIGNIFICANCERESULT(STATISTIC=0.05454838698202255, PVALUE=0.6075682576361974)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76050" y="2611838"/>
            <a:ext cx="7577859" cy="5862257"/>
          </a:xfrm>
          <a:custGeom>
            <a:avLst/>
            <a:gdLst/>
            <a:ahLst/>
            <a:cxnLst/>
            <a:rect r="r" b="b" t="t" l="l"/>
            <a:pathLst>
              <a:path h="5862257" w="7577859">
                <a:moveTo>
                  <a:pt x="0" y="0"/>
                </a:moveTo>
                <a:lnTo>
                  <a:pt x="7577859" y="0"/>
                </a:lnTo>
                <a:lnTo>
                  <a:pt x="7577859" y="5862256"/>
                </a:lnTo>
                <a:lnTo>
                  <a:pt x="0" y="5862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2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266" y="2117065"/>
            <a:ext cx="1840594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9438" y="1624940"/>
            <a:ext cx="1166503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ВЕРНО ЛИ, ЧТО У ПАЦИЕНТОВ С ИМТ ВЫШЕ НОРМЫ БУДЕТ ПОВЫШЕННЫЙ УРОВЕНЬ ХОЛЕСТЕРИНА?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4800" y="8426469"/>
            <a:ext cx="1210035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CHI2CONTINGENCYRESULT(STATISTIC=0.0, PVALUE=1.0, DOF=0, EXPECTED_FREQ=ARRAY([[18.], </a:t>
            </a:r>
            <a:r>
              <a:rPr lang="en-US" sz="2000" spc="600">
                <a:solidFill>
                  <a:srgbClr val="000000"/>
                </a:solidFill>
                <a:latin typeface="Inter"/>
              </a:rPr>
              <a:t>[73.]]))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920478" y="2482741"/>
            <a:ext cx="7669777" cy="5996525"/>
          </a:xfrm>
          <a:custGeom>
            <a:avLst/>
            <a:gdLst/>
            <a:ahLst/>
            <a:cxnLst/>
            <a:rect r="r" b="b" t="t" l="l"/>
            <a:pathLst>
              <a:path h="5996525" w="7669777">
                <a:moveTo>
                  <a:pt x="0" y="0"/>
                </a:moveTo>
                <a:lnTo>
                  <a:pt x="7669777" y="0"/>
                </a:lnTo>
                <a:lnTo>
                  <a:pt x="7669777" y="5996526"/>
                </a:lnTo>
                <a:lnTo>
                  <a:pt x="0" y="5996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266" y="2117065"/>
            <a:ext cx="1840594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9438" y="1624940"/>
            <a:ext cx="1166503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ВЕРНО ЛИ, ЧТО ДАЖЕ БЕЗ ХРОНИЧЕСКИХ БОЛЕЗНЕЙ ПОЧЕК С ВОЗРАСТОМ ТОЛЩИНА ПАРЕНХИМЫ ПОЧЕК УМЕНЬШАЕТСЯ?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4800" y="8157004"/>
            <a:ext cx="12100358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PearsonRResult(statistic=-0.2286580163189256, pvalue=0.15584536629264173)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993745" y="1842857"/>
            <a:ext cx="6960260" cy="6960260"/>
          </a:xfrm>
          <a:custGeom>
            <a:avLst/>
            <a:gdLst/>
            <a:ahLst/>
            <a:cxnLst/>
            <a:rect r="r" b="b" t="t" l="l"/>
            <a:pathLst>
              <a:path h="6960260" w="6960260">
                <a:moveTo>
                  <a:pt x="0" y="0"/>
                </a:moveTo>
                <a:lnTo>
                  <a:pt x="6960260" y="0"/>
                </a:lnTo>
                <a:lnTo>
                  <a:pt x="6960260" y="6960260"/>
                </a:lnTo>
                <a:lnTo>
                  <a:pt x="0" y="696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266" y="2117065"/>
            <a:ext cx="1840594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9438" y="1624940"/>
            <a:ext cx="1166503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ПРОВЕРИТЬ АДЕКВАТНОСТЬ ПОСТАВЛЕННОГО ДИАГНОЗА ПО СТАДИИ ХРОНИЧЕСКОЙ БОЛЕЗНИ ПОЧЕК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30048" y="8765017"/>
            <a:ext cx="7474253" cy="3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46"/>
              </a:lnSpc>
              <a:spcBef>
                <a:spcPct val="0"/>
              </a:spcBef>
            </a:pPr>
            <a:r>
              <a:rPr lang="en-US" sz="2033">
                <a:solidFill>
                  <a:srgbClr val="000000"/>
                </a:solidFill>
                <a:latin typeface="Now"/>
              </a:rPr>
              <a:t>СТАДИЯ РАЗВИТИЯ ХБП ОПРЕДЕЛЯЛАСЬ ПО СКФ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02708" y="3138450"/>
            <a:ext cx="10391601" cy="5871042"/>
          </a:xfrm>
          <a:custGeom>
            <a:avLst/>
            <a:gdLst/>
            <a:ahLst/>
            <a:cxnLst/>
            <a:rect r="r" b="b" t="t" l="l"/>
            <a:pathLst>
              <a:path h="5871042" w="10391601">
                <a:moveTo>
                  <a:pt x="0" y="0"/>
                </a:moveTo>
                <a:lnTo>
                  <a:pt x="10391601" y="0"/>
                </a:lnTo>
                <a:lnTo>
                  <a:pt x="10391601" y="5871042"/>
                </a:lnTo>
                <a:lnTo>
                  <a:pt x="0" y="5871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0266" y="2117065"/>
            <a:ext cx="1840594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3.7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49438" y="1624940"/>
            <a:ext cx="1166503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Inter"/>
              </a:rPr>
              <a:t>ИССЛЕДОВАТЬ КОРРЕЛЯЦИЮ МЕЖДУ ПАРАМЕТРАМИ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951895" y="2987638"/>
            <a:ext cx="4695311" cy="4114800"/>
          </a:xfrm>
          <a:custGeom>
            <a:avLst/>
            <a:gdLst/>
            <a:ahLst/>
            <a:cxnLst/>
            <a:rect r="r" b="b" t="t" l="l"/>
            <a:pathLst>
              <a:path h="4114800" w="4695311">
                <a:moveTo>
                  <a:pt x="0" y="0"/>
                </a:moveTo>
                <a:lnTo>
                  <a:pt x="4695311" y="0"/>
                </a:lnTo>
                <a:lnTo>
                  <a:pt x="4695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8575" y="2117065"/>
            <a:ext cx="7889200" cy="15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706"/>
              </a:lnSpc>
            </a:pPr>
            <a:r>
              <a:rPr lang="en-US" sz="9075">
                <a:solidFill>
                  <a:srgbClr val="000000"/>
                </a:solidFill>
                <a:latin typeface="Intro"/>
              </a:rPr>
              <a:t>Трудности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2473" y="3629610"/>
            <a:ext cx="3369269" cy="43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sz="2561">
                <a:solidFill>
                  <a:srgbClr val="000000"/>
                </a:solidFill>
                <a:latin typeface="Intro"/>
              </a:rPr>
              <a:t>НЕХВАТКА ДАННЫХ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392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144458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047583" y="5129384"/>
            <a:ext cx="3021297" cy="65919"/>
          </a:xfrm>
          <a:custGeom>
            <a:avLst/>
            <a:gdLst/>
            <a:ahLst/>
            <a:cxnLst/>
            <a:rect r="r" b="b" t="t" l="l"/>
            <a:pathLst>
              <a:path h="65919" w="3021297">
                <a:moveTo>
                  <a:pt x="0" y="0"/>
                </a:moveTo>
                <a:lnTo>
                  <a:pt x="3021296" y="0"/>
                </a:lnTo>
                <a:lnTo>
                  <a:pt x="3021296" y="65920"/>
                </a:lnTo>
                <a:lnTo>
                  <a:pt x="0" y="65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22270" y="5129384"/>
            <a:ext cx="3021297" cy="65919"/>
          </a:xfrm>
          <a:custGeom>
            <a:avLst/>
            <a:gdLst/>
            <a:ahLst/>
            <a:cxnLst/>
            <a:rect r="r" b="b" t="t" l="l"/>
            <a:pathLst>
              <a:path h="65919" w="3021297">
                <a:moveTo>
                  <a:pt x="0" y="0"/>
                </a:moveTo>
                <a:lnTo>
                  <a:pt x="3021296" y="0"/>
                </a:lnTo>
                <a:lnTo>
                  <a:pt x="3021296" y="65920"/>
                </a:lnTo>
                <a:lnTo>
                  <a:pt x="0" y="65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19527" y="5096425"/>
            <a:ext cx="3021297" cy="65919"/>
          </a:xfrm>
          <a:custGeom>
            <a:avLst/>
            <a:gdLst/>
            <a:ahLst/>
            <a:cxnLst/>
            <a:rect r="r" b="b" t="t" l="l"/>
            <a:pathLst>
              <a:path h="65919" w="3021297">
                <a:moveTo>
                  <a:pt x="0" y="0"/>
                </a:moveTo>
                <a:lnTo>
                  <a:pt x="3021297" y="0"/>
                </a:lnTo>
                <a:lnTo>
                  <a:pt x="3021297" y="65919"/>
                </a:lnTo>
                <a:lnTo>
                  <a:pt x="0" y="65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95373" y="5973231"/>
            <a:ext cx="3538016" cy="3036261"/>
          </a:xfrm>
          <a:custGeom>
            <a:avLst/>
            <a:gdLst/>
            <a:ahLst/>
            <a:cxnLst/>
            <a:rect r="r" b="b" t="t" l="l"/>
            <a:pathLst>
              <a:path h="3036261" w="3538016">
                <a:moveTo>
                  <a:pt x="0" y="0"/>
                </a:moveTo>
                <a:lnTo>
                  <a:pt x="3538016" y="0"/>
                </a:lnTo>
                <a:lnTo>
                  <a:pt x="3538016" y="3036261"/>
                </a:lnTo>
                <a:lnTo>
                  <a:pt x="0" y="3036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19527" y="5804166"/>
            <a:ext cx="3533393" cy="3374390"/>
          </a:xfrm>
          <a:custGeom>
            <a:avLst/>
            <a:gdLst/>
            <a:ahLst/>
            <a:cxnLst/>
            <a:rect r="r" b="b" t="t" l="l"/>
            <a:pathLst>
              <a:path h="3374390" w="3533393">
                <a:moveTo>
                  <a:pt x="0" y="0"/>
                </a:moveTo>
                <a:lnTo>
                  <a:pt x="3533393" y="0"/>
                </a:lnTo>
                <a:lnTo>
                  <a:pt x="3533393" y="3374390"/>
                </a:lnTo>
                <a:lnTo>
                  <a:pt x="0" y="3374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71345" y="6484198"/>
            <a:ext cx="3171869" cy="2110734"/>
          </a:xfrm>
          <a:custGeom>
            <a:avLst/>
            <a:gdLst/>
            <a:ahLst/>
            <a:cxnLst/>
            <a:rect r="r" b="b" t="t" l="l"/>
            <a:pathLst>
              <a:path h="2110734" w="3171869">
                <a:moveTo>
                  <a:pt x="0" y="0"/>
                </a:moveTo>
                <a:lnTo>
                  <a:pt x="3171869" y="0"/>
                </a:lnTo>
                <a:lnTo>
                  <a:pt x="3171869" y="2110735"/>
                </a:lnTo>
                <a:lnTo>
                  <a:pt x="0" y="2110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299551" y="8660242"/>
            <a:ext cx="29597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PAGE 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9152" y="2117065"/>
            <a:ext cx="15021781" cy="155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670"/>
              </a:lnSpc>
            </a:pPr>
            <a:r>
              <a:rPr lang="en-US" sz="9050">
                <a:solidFill>
                  <a:srgbClr val="000000"/>
                </a:solidFill>
                <a:latin typeface="Intro"/>
              </a:rPr>
              <a:t>Дальнейшее развитие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82228" y="4551534"/>
            <a:ext cx="255200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ЯНВАРЬ 2023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6536" y="4551534"/>
            <a:ext cx="21127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МАРТ 2023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78420" y="4551534"/>
            <a:ext cx="19035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600">
                <a:solidFill>
                  <a:srgbClr val="000000"/>
                </a:solidFill>
                <a:latin typeface="Inter"/>
              </a:rPr>
              <a:t>МАЙ 2023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0576" y="5289971"/>
            <a:ext cx="415531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480">
                <a:solidFill>
                  <a:srgbClr val="000000"/>
                </a:solidFill>
                <a:latin typeface="Inter"/>
              </a:rPr>
              <a:t>ПОЛУЧЕНИЕ БОЛЬШОГО ДАТАСЕТА И АНАЛИЗ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45210" y="5289971"/>
            <a:ext cx="522414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480">
                <a:solidFill>
                  <a:srgbClr val="000000"/>
                </a:solidFill>
                <a:latin typeface="Inter"/>
              </a:rPr>
              <a:t>ЗАКЛЮЧЕНИЕ СОТРУДНИЧЕСТВА С БОЛЬНИЦЕЙ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74154" y="5197106"/>
            <a:ext cx="522414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480">
                <a:solidFill>
                  <a:srgbClr val="000000"/>
                </a:solidFill>
                <a:latin typeface="Inter"/>
              </a:rPr>
              <a:t>ВНЕДРЕНИЕ И ЗАПУСК В ЭКСПЛУАТАЮ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DAF3W6X38A8</dc:identifier>
  <dcterms:modified xsi:type="dcterms:W3CDTF">2011-08-01T06:04:30Z</dcterms:modified>
  <cp:revision>1</cp:revision>
  <dc:title>Minimalist Beige Brand Guidelines Presentation</dc:title>
</cp:coreProperties>
</file>